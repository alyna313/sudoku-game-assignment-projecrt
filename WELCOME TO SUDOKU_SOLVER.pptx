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75" r:id="rId5"/>
    <p:sldId id="266" r:id="rId6"/>
    <p:sldId id="276" r:id="rId7"/>
    <p:sldId id="277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8" r:id="rId16"/>
    <p:sldId id="274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0FB670-7427-4185-8511-6F36A0143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D473D-6081-4804-9B28-4FA7D2C383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9C193-D30F-4B7A-8956-32E4F6D9D2C9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68452-BA11-400A-8E67-C003922CC3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0A332-336E-4B1B-9128-655A1F9DBA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948B1-B6D3-4578-932F-6AE7124E5E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135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AC78B-5884-4D24-983C-916233003E85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B528-7684-4A37-99F6-46340DCC2B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8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 userDrawn="1"/>
        </p:nvSpPr>
        <p:spPr bwMode="auto">
          <a:xfrm>
            <a:off x="11784011" y="345139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8819" y="2270908"/>
            <a:ext cx="7034362" cy="2188992"/>
          </a:xfrm>
        </p:spPr>
        <p:txBody>
          <a:bodyPr anchor="ctr" anchorCtr="0">
            <a:noAutofit/>
          </a:bodyPr>
          <a:lstStyle>
            <a:lvl1pPr algn="ctr">
              <a:lnSpc>
                <a:spcPct val="85000"/>
              </a:lnSpc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6793" y="5024051"/>
            <a:ext cx="7034362" cy="1052898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84338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F35A1469-2D5F-4CF6-9A65-876A4BCDDACA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15066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72151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1549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EE1DAB-B868-4EEB-BD54-B9BAB6F58361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377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88A9-102E-4111-86E0-D51E9CB704AA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993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78772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BD67-B37A-4DEF-9054-A91A6B18355E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2001" y="2981325"/>
            <a:ext cx="1866900" cy="2828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983FCBB-03A1-486A-BDE2-92BD88EA0FC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29006" y="2981325"/>
            <a:ext cx="1866900" cy="2828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136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3432B8B-A85D-47CE-98BC-3DF0B2F26AF4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5400" y="431747"/>
            <a:ext cx="5105400" cy="68463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088800" y="1468316"/>
            <a:ext cx="4831664" cy="3865070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35B7-901B-460F-BE63-E630BF7AD92D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416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AC8F6D-0687-481A-9761-11AB8A79722C}"/>
              </a:ext>
            </a:extLst>
          </p:cNvPr>
          <p:cNvSpPr/>
          <p:nvPr userDrawn="1"/>
        </p:nvSpPr>
        <p:spPr>
          <a:xfrm>
            <a:off x="0" y="1"/>
            <a:ext cx="12191999" cy="15474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62000" y="305678"/>
            <a:ext cx="10667998" cy="1002422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01C1E-44EC-4ED6-87AC-7B26C9BC7568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id="{0370AA61-B230-4320-8591-17B9EA527174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AF3C3132-3E24-455C-9341-F3767C087D5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2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A783413-0A31-4F6C-B545-866183ABB0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78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C8E5ED0-7922-414F-9B0F-CA82F0A3C660}"/>
              </a:ext>
            </a:extLst>
          </p:cNvPr>
          <p:cNvSpPr/>
          <p:nvPr userDrawn="1"/>
        </p:nvSpPr>
        <p:spPr>
          <a:xfrm>
            <a:off x="0" y="1540330"/>
            <a:ext cx="12192000" cy="47156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AC8F6D-0687-481A-9761-11AB8A79722C}"/>
              </a:ext>
            </a:extLst>
          </p:cNvPr>
          <p:cNvSpPr/>
          <p:nvPr userDrawn="1"/>
        </p:nvSpPr>
        <p:spPr>
          <a:xfrm>
            <a:off x="0" y="1"/>
            <a:ext cx="12191999" cy="15474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8571" y="6314440"/>
            <a:ext cx="3814856" cy="365125"/>
          </a:xfrm>
        </p:spPr>
        <p:txBody>
          <a:bodyPr/>
          <a:lstStyle/>
          <a:p>
            <a:fld id="{4AE13B8D-7A39-483F-9092-AB66B2338492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1999" y="2875327"/>
            <a:ext cx="3348000" cy="2291676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id="{0370AA61-B230-4320-8591-17B9EA527174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A783413-0A31-4F6C-B545-866183ABB0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1999" y="2875327"/>
            <a:ext cx="3348000" cy="2291676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4C76CE-242A-40DC-B9BA-9F6CD2FEB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761999" y="280278"/>
            <a:ext cx="10676571" cy="1002422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89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352848"/>
            <a:ext cx="10667998" cy="1002422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848724" y="1534886"/>
            <a:ext cx="2581273" cy="427536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B421F-7852-47A7-8672-3F4B3DC607FF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2000" y="1534886"/>
            <a:ext cx="7829550" cy="427536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47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768376-ED37-468E-9A28-4A8C73222CFB}"/>
              </a:ext>
            </a:extLst>
          </p:cNvPr>
          <p:cNvSpPr/>
          <p:nvPr userDrawn="1"/>
        </p:nvSpPr>
        <p:spPr>
          <a:xfrm>
            <a:off x="5263637" y="0"/>
            <a:ext cx="692836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E990-BAB9-4562-95E3-50660C2796F3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EDD3AEB-5731-4BFB-B455-2CAA76BB8C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22695" y="358646"/>
            <a:ext cx="5505450" cy="5896056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noProof="0">
                <a:cs typeface="Segoe UI" panose="020B0502040204020203" pitchFamily="34" charset="0"/>
              </a:rPr>
              <a:t>Edit Master text styles</a:t>
            </a:r>
          </a:p>
        </p:txBody>
      </p:sp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F054F317-CFFE-48EF-91D4-872C9FE7043D}"/>
              </a:ext>
            </a:extLst>
          </p:cNvPr>
          <p:cNvSpPr/>
          <p:nvPr userDrawn="1"/>
        </p:nvSpPr>
        <p:spPr bwMode="auto">
          <a:xfrm>
            <a:off x="11793378" y="36016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D58896D-DB7B-49E4-87EC-67CEAB2EF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570" y="548792"/>
            <a:ext cx="3833906" cy="4952492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119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0054D9-7800-4106-9C2D-E383D9D6A16D}"/>
              </a:ext>
            </a:extLst>
          </p:cNvPr>
          <p:cNvSpPr/>
          <p:nvPr userDrawn="1"/>
        </p:nvSpPr>
        <p:spPr>
          <a:xfrm>
            <a:off x="6901869" y="0"/>
            <a:ext cx="529336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EBBCD-CBA1-4D0B-806D-FC14D8656200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6659" y="688779"/>
            <a:ext cx="5746376" cy="522307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213600" y="280278"/>
            <a:ext cx="4641006" cy="2397608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Freeform 6" title="Page Number Shape">
            <a:extLst>
              <a:ext uri="{FF2B5EF4-FFF2-40B4-BE49-F238E27FC236}">
                <a16:creationId xmlns:a16="http://schemas.microsoft.com/office/drawing/2014/main" id="{B162E9BD-1CEB-41D5-8DEB-7C5EDF3B01C3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46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6767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651A72-6E17-4CF4-8218-285FCAC88E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181600" y="557784"/>
            <a:ext cx="6248400" cy="2307964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2A31231-1080-4CC0-9896-EF779EE27C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65121" y="2950589"/>
            <a:ext cx="6188679" cy="256324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0327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952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2D3B-BB2C-4EA8-8616-6D874F8BB777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9539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E975-0B6B-4B58-A4AA-C8F33B87478E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036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E975-0B6B-4B58-A4AA-C8F33B87478E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3A5F786-D848-499D-B37D-96CF11DE9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55480"/>
            <a:ext cx="6246812" cy="5305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726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36016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9E139DA8-D636-4336-B416-25DD0050B639}" type="datetime8">
              <a:rPr lang="en-US" noProof="0" smtClean="0"/>
              <a:t>11/3/2025 6:04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87179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87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62" r:id="rId3"/>
    <p:sldLayoutId id="2147483673" r:id="rId4"/>
    <p:sldLayoutId id="2147483677" r:id="rId5"/>
    <p:sldLayoutId id="2147483674" r:id="rId6"/>
    <p:sldLayoutId id="2147483679" r:id="rId7"/>
    <p:sldLayoutId id="2147483678" r:id="rId8"/>
    <p:sldLayoutId id="2147483676" r:id="rId9"/>
    <p:sldLayoutId id="2147483675" r:id="rId10"/>
    <p:sldLayoutId id="2147483665" r:id="rId11"/>
    <p:sldLayoutId id="2147483682" r:id="rId12"/>
    <p:sldLayoutId id="2147483681" r:id="rId13"/>
    <p:sldLayoutId id="2147483667" r:id="rId14"/>
    <p:sldLayoutId id="2147483668" r:id="rId15"/>
    <p:sldLayoutId id="2147483680" r:id="rId16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0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1696369" cy="6858000"/>
          </a:xfrm>
          <a:prstGeom prst="rect">
            <a:avLst/>
          </a:prstGeom>
          <a:effectLst>
            <a:glow>
              <a:schemeClr val="accent1"/>
            </a:glow>
            <a:outerShdw blurRad="1270000" dist="2540000" dir="21540000" sx="1000" sy="1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6" name="Rectangle 5"/>
          <p:cNvSpPr/>
          <p:nvPr/>
        </p:nvSpPr>
        <p:spPr>
          <a:xfrm>
            <a:off x="1745311" y="1463040"/>
            <a:ext cx="7052806" cy="289427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>
                <a:solidFill>
                  <a:schemeClr val="tx1"/>
                </a:solidFill>
              </a:rPr>
              <a:t>WELCOME TO </a:t>
            </a:r>
            <a:r>
              <a:rPr lang="en-US" sz="6000" dirty="0" smtClean="0">
                <a:solidFill>
                  <a:schemeClr val="accent1"/>
                </a:solidFill>
              </a:rPr>
              <a:t>SUDOKU_SOLVER</a:t>
            </a:r>
            <a:endParaRPr lang="en-US" sz="6000" dirty="0">
              <a:solidFill>
                <a:schemeClr val="accent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70421" y="4190339"/>
            <a:ext cx="4993419" cy="2115046"/>
          </a:xfrm>
          <a:prstGeom prst="rect">
            <a:avLst/>
          </a:prstGeom>
          <a:solidFill>
            <a:schemeClr val="bg1"/>
          </a:solidFill>
          <a:ln w="571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b="1" dirty="0" smtClean="0">
                <a:solidFill>
                  <a:schemeClr val="tx1"/>
                </a:solidFill>
              </a:rPr>
              <a:t>GROUP MEMBERS: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 </a:t>
            </a:r>
            <a:r>
              <a:rPr lang="en-US" dirty="0" smtClean="0"/>
              <a:t>                          SONIYA INAYAT        </a:t>
            </a:r>
            <a:r>
              <a:rPr lang="en-US" dirty="0" smtClean="0">
                <a:solidFill>
                  <a:schemeClr val="accent1"/>
                </a:solidFill>
              </a:rPr>
              <a:t>1378</a:t>
            </a:r>
          </a:p>
          <a:p>
            <a:pPr algn="just"/>
            <a:r>
              <a:rPr lang="en-US" dirty="0" smtClean="0"/>
              <a:t>                           NOSHEEN ZEHRA    </a:t>
            </a:r>
            <a:r>
              <a:rPr lang="en-US" dirty="0" smtClean="0">
                <a:solidFill>
                  <a:schemeClr val="accent1"/>
                </a:solidFill>
              </a:rPr>
              <a:t>1404</a:t>
            </a:r>
          </a:p>
          <a:p>
            <a:pPr algn="just"/>
            <a:r>
              <a:rPr lang="en-US" dirty="0" smtClean="0"/>
              <a:t>                           RABIA BATOOL        </a:t>
            </a:r>
            <a:r>
              <a:rPr lang="en-US" dirty="0" smtClean="0">
                <a:solidFill>
                  <a:schemeClr val="accent1"/>
                </a:solidFill>
              </a:rPr>
              <a:t>1390</a:t>
            </a:r>
          </a:p>
          <a:p>
            <a:pPr algn="just"/>
            <a:r>
              <a:rPr lang="en-US" dirty="0" smtClean="0"/>
              <a:t>                           ALINA </a:t>
            </a:r>
            <a:r>
              <a:rPr lang="en-US" dirty="0"/>
              <a:t>KULSOOM </a:t>
            </a:r>
            <a:r>
              <a:rPr lang="en-US" dirty="0" smtClean="0"/>
              <a:t>    </a:t>
            </a:r>
            <a:r>
              <a:rPr lang="en-US" dirty="0" smtClean="0">
                <a:solidFill>
                  <a:schemeClr val="accent1"/>
                </a:solidFill>
              </a:rPr>
              <a:t>1366</a:t>
            </a:r>
            <a:endParaRPr lang="en-US" dirty="0">
              <a:solidFill>
                <a:schemeClr val="accent1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745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6D27-68F1-47B9-A6E0-2CEAFAEB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56" y="1067960"/>
            <a:ext cx="4171480" cy="2110311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2A6366-FF6C-47F2-B842-B9F516ACC7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55213" y="2708969"/>
            <a:ext cx="4387132" cy="2833089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/>
              <a:t>SUDOKU</a:t>
            </a:r>
          </a:p>
          <a:p>
            <a:pPr algn="ctr"/>
            <a:r>
              <a:rPr lang="en-US" sz="6000" dirty="0" smtClean="0"/>
              <a:t>GAME</a:t>
            </a:r>
          </a:p>
          <a:p>
            <a:pPr algn="ctr"/>
            <a:r>
              <a:rPr lang="en-US" sz="6000" dirty="0" smtClean="0"/>
              <a:t>SOLVER</a:t>
            </a:r>
            <a:endParaRPr lang="en-US" sz="60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04472FF-5CE9-4C28-A4FF-E178C31EC5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47050" y="833960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6C871-D206-4292-AECC-3EBF29BE656A}"/>
              </a:ext>
            </a:extLst>
          </p:cNvPr>
          <p:cNvSpPr txBox="1"/>
          <p:nvPr/>
        </p:nvSpPr>
        <p:spPr>
          <a:xfrm>
            <a:off x="5725518" y="855456"/>
            <a:ext cx="515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1 </a:t>
            </a:r>
            <a:endParaRPr lang="en-US" sz="2000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14446E-8D49-40FF-8036-3BE0DA8E5B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47050" y="2569755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E3861-81FF-4843-A74C-8C4C7AE9AA66}"/>
              </a:ext>
            </a:extLst>
          </p:cNvPr>
          <p:cNvSpPr txBox="1"/>
          <p:nvPr/>
        </p:nvSpPr>
        <p:spPr>
          <a:xfrm>
            <a:off x="5725518" y="2603700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A882D0-618F-4C0E-BCB7-2590F78078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34604" y="4262559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23F82-8FBB-4514-9D10-63CF6BF149CC}"/>
              </a:ext>
            </a:extLst>
          </p:cNvPr>
          <p:cNvSpPr txBox="1"/>
          <p:nvPr/>
        </p:nvSpPr>
        <p:spPr>
          <a:xfrm>
            <a:off x="5692987" y="4330449"/>
            <a:ext cx="425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0876D-147F-4718-97A1-D749D03B8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3622" y="387364"/>
            <a:ext cx="5899371" cy="589605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lang="en-GB" sz="3200" smtClean="0"/>
              <a:t>Sudoku is a logic-based, combinatorial number-placement puzzle.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lang="en-GB" sz="3200" smtClean="0"/>
              <a:t>Objective: Fill a 9×9 grid so each column, row, and 3×3 section contains digits 1 to 9.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lang="en-GB" sz="3200" smtClean="0"/>
              <a:t>Our project recreates Sudoku in Python using Pygame with modern features.</a:t>
            </a:r>
            <a:endParaRPr lang="en-GB" sz="1800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863346" y="636461"/>
            <a:ext cx="5294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i="1" dirty="0">
                <a:solidFill>
                  <a:schemeClr val="bg1"/>
                </a:solidFill>
              </a:rPr>
              <a:t>2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408564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3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790414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90415" y="1224501"/>
            <a:ext cx="5401584" cy="4683318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7" name="Rectangle 6"/>
          <p:cNvSpPr/>
          <p:nvPr/>
        </p:nvSpPr>
        <p:spPr>
          <a:xfrm>
            <a:off x="6554548" y="2781330"/>
            <a:ext cx="587331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SUDOKU_WINDOW_</a:t>
            </a:r>
          </a:p>
          <a:p>
            <a:pPr algn="ctr"/>
            <a:r>
              <a:rPr lang="en-US" sz="48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BOARD</a:t>
            </a:r>
            <a:endParaRPr lang="en-US" sz="4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542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83" y="0"/>
            <a:ext cx="11203389" cy="699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4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C9975B72-4581-4DBC-941E-6521DE4DBE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95643" y="688779"/>
            <a:ext cx="468000" cy="4680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14EB5-3483-49AA-8069-F74D82B84A67}"/>
              </a:ext>
            </a:extLst>
          </p:cNvPr>
          <p:cNvSpPr txBox="1"/>
          <p:nvPr/>
        </p:nvSpPr>
        <p:spPr>
          <a:xfrm>
            <a:off x="555089" y="68877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D35B0B-D4ED-464C-873F-642CBEC7058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87775" y="2043327"/>
            <a:ext cx="468000" cy="4680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15C840-04E8-4B3B-A920-8B11BE41875C}"/>
              </a:ext>
            </a:extLst>
          </p:cNvPr>
          <p:cNvSpPr txBox="1"/>
          <p:nvPr/>
        </p:nvSpPr>
        <p:spPr>
          <a:xfrm>
            <a:off x="555089" y="205241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04EE672-043B-4A9C-9B4F-61AC099E5B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04228" y="3336488"/>
            <a:ext cx="468000" cy="4680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A1630E-E52B-4235-9AAF-45C521F86D65}"/>
              </a:ext>
            </a:extLst>
          </p:cNvPr>
          <p:cNvSpPr txBox="1"/>
          <p:nvPr/>
        </p:nvSpPr>
        <p:spPr>
          <a:xfrm>
            <a:off x="555089" y="3397875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E81ECD2-4232-42E4-A14F-84BAA99BDC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95643" y="4668057"/>
            <a:ext cx="468000" cy="4680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7714F0-4FB7-4658-BE3C-A623344D3FC0}"/>
              </a:ext>
            </a:extLst>
          </p:cNvPr>
          <p:cNvSpPr txBox="1"/>
          <p:nvPr/>
        </p:nvSpPr>
        <p:spPr>
          <a:xfrm>
            <a:off x="580125" y="4735947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45F58-7953-47AD-917A-485216F77D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63643" y="765339"/>
            <a:ext cx="5746376" cy="522307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3200" dirty="0"/>
              <a:t>To design an interactive Sudoku game using Python and </a:t>
            </a:r>
            <a:r>
              <a:rPr lang="en-GB" sz="3200" dirty="0" err="1"/>
              <a:t>Pygame</a:t>
            </a:r>
            <a:r>
              <a:rPr lang="en-GB" sz="3200" dirty="0" smtClean="0"/>
              <a:t>.</a:t>
            </a:r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sz="3200" dirty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3200" dirty="0" smtClean="0"/>
              <a:t>To </a:t>
            </a:r>
            <a:r>
              <a:rPr lang="en-GB" sz="3200" dirty="0"/>
              <a:t>provide a fun and logical problem-solving environment.</a:t>
            </a:r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sz="3200" dirty="0" smtClean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3200" dirty="0" smtClean="0"/>
              <a:t>To </a:t>
            </a:r>
            <a:r>
              <a:rPr lang="en-GB" sz="3200" dirty="0"/>
              <a:t>add modern usability features such as hints, undo, and validation. </a:t>
            </a:r>
            <a:endParaRPr lang="en-GB" sz="3200" dirty="0" smtClean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sz="3200" dirty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3200" dirty="0" smtClean="0"/>
              <a:t>Implement </a:t>
            </a:r>
            <a:r>
              <a:rPr lang="en-GB" sz="3200" dirty="0"/>
              <a:t>a Smart Sudoku Solver — Uses backtracking to fill the grid </a:t>
            </a:r>
            <a:r>
              <a:rPr lang="en-GB" sz="3200" dirty="0" smtClean="0"/>
              <a:t>logically.</a:t>
            </a:r>
            <a:endParaRPr lang="en-GB" sz="1700" i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3C117A-FBCE-4093-AA60-E0B1FCBAFCF6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Project </a:t>
            </a:r>
            <a:r>
              <a:rPr lang="en-US" dirty="0"/>
              <a:t>Objective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E2D39B-E5BA-4353-811F-D83F9A05DF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617150" y="2968629"/>
            <a:ext cx="3833906" cy="2611038"/>
          </a:xfrm>
          <a:prstGeom prst="roundRect">
            <a:avLst>
              <a:gd name="adj" fmla="val 50000"/>
            </a:avLst>
          </a:prstGeom>
          <a:ln w="571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711" y="3397875"/>
            <a:ext cx="2256784" cy="159626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854606" y="580673"/>
            <a:ext cx="892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i="1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86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46EC-1FC7-4065-BC98-F8A55E53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981" y="670482"/>
            <a:ext cx="3857364" cy="962796"/>
          </a:xfrm>
        </p:spPr>
        <p:txBody>
          <a:bodyPr/>
          <a:lstStyle/>
          <a:p>
            <a:r>
              <a:rPr lang="en-US" b="1" dirty="0" smtClean="0"/>
              <a:t>Tech </a:t>
            </a:r>
            <a:r>
              <a:rPr lang="en-US" b="1" dirty="0"/>
              <a:t>Stack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19A5BD-5ED6-420D-9845-C32F172567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30695" y="571786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8" name="TextBox 7" descr="decorative element">
            <a:extLst>
              <a:ext uri="{FF2B5EF4-FFF2-40B4-BE49-F238E27FC236}">
                <a16:creationId xmlns:a16="http://schemas.microsoft.com/office/drawing/2014/main" id="{899BC040-0D5E-4E6E-8E95-6B710CABCAF8}"/>
              </a:ext>
            </a:extLst>
          </p:cNvPr>
          <p:cNvSpPr txBox="1"/>
          <p:nvPr/>
        </p:nvSpPr>
        <p:spPr>
          <a:xfrm>
            <a:off x="5698008" y="605731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0D6914-3231-4EEA-BA0E-6EB9635E2C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50258" y="1523460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0" name="TextBox 9" descr="decorative element">
            <a:extLst>
              <a:ext uri="{FF2B5EF4-FFF2-40B4-BE49-F238E27FC236}">
                <a16:creationId xmlns:a16="http://schemas.microsoft.com/office/drawing/2014/main" id="{DF6C2EE1-FB2F-4893-B2BE-552195DFE5F3}"/>
              </a:ext>
            </a:extLst>
          </p:cNvPr>
          <p:cNvSpPr txBox="1"/>
          <p:nvPr/>
        </p:nvSpPr>
        <p:spPr>
          <a:xfrm>
            <a:off x="5717423" y="1506503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A7A1F3-DF16-4906-AB99-7271A62BD3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49564" y="2447041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2" name="TextBox 11" descr="decorative element">
            <a:extLst>
              <a:ext uri="{FF2B5EF4-FFF2-40B4-BE49-F238E27FC236}">
                <a16:creationId xmlns:a16="http://schemas.microsoft.com/office/drawing/2014/main" id="{C8F3A396-1948-4D35-BEE9-CC6CB08D2788}"/>
              </a:ext>
            </a:extLst>
          </p:cNvPr>
          <p:cNvSpPr txBox="1"/>
          <p:nvPr/>
        </p:nvSpPr>
        <p:spPr>
          <a:xfrm>
            <a:off x="5716319" y="2480986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2B39FAF-E8F3-4DC0-85F2-0F3005FA850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48168" y="3441425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4" name="TextBox 13" descr="decorative element">
            <a:extLst>
              <a:ext uri="{FF2B5EF4-FFF2-40B4-BE49-F238E27FC236}">
                <a16:creationId xmlns:a16="http://schemas.microsoft.com/office/drawing/2014/main" id="{D662B18B-C838-45CE-B43E-32C743E13974}"/>
              </a:ext>
            </a:extLst>
          </p:cNvPr>
          <p:cNvSpPr txBox="1"/>
          <p:nvPr/>
        </p:nvSpPr>
        <p:spPr>
          <a:xfrm>
            <a:off x="5715481" y="3467527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075E26-5BF9-40ED-9945-45C65E2A44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77594" y="4603213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6" name="TextBox 15" descr="decorative element">
            <a:extLst>
              <a:ext uri="{FF2B5EF4-FFF2-40B4-BE49-F238E27FC236}">
                <a16:creationId xmlns:a16="http://schemas.microsoft.com/office/drawing/2014/main" id="{BB8F23EE-E31D-4666-AAD5-11B6D6D93B40}"/>
              </a:ext>
            </a:extLst>
          </p:cNvPr>
          <p:cNvSpPr txBox="1"/>
          <p:nvPr/>
        </p:nvSpPr>
        <p:spPr>
          <a:xfrm>
            <a:off x="5745735" y="4590171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CD21D3-7FB6-4316-907B-8558B54F87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77594" y="5534840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8" name="TextBox 17" descr="decorative element">
            <a:extLst>
              <a:ext uri="{FF2B5EF4-FFF2-40B4-BE49-F238E27FC236}">
                <a16:creationId xmlns:a16="http://schemas.microsoft.com/office/drawing/2014/main" id="{D656F6A6-7C3C-4EF2-94D1-42D0DD1BD9F0}"/>
              </a:ext>
            </a:extLst>
          </p:cNvPr>
          <p:cNvSpPr txBox="1"/>
          <p:nvPr/>
        </p:nvSpPr>
        <p:spPr>
          <a:xfrm>
            <a:off x="5745735" y="5568785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51964-E2BB-4A8E-95FD-73EF52089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336" y="386487"/>
            <a:ext cx="5505450" cy="5896056"/>
          </a:xfrm>
        </p:spPr>
        <p:txBody>
          <a:bodyPr>
            <a:normAutofit fontScale="70000" lnSpcReduction="20000"/>
          </a:bodyPr>
          <a:lstStyle/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b="1" dirty="0" smtClean="0"/>
              <a:t>Programming </a:t>
            </a:r>
            <a:r>
              <a:rPr lang="en-US" sz="3200" b="1" dirty="0"/>
              <a:t>Language:</a:t>
            </a:r>
            <a:r>
              <a:rPr lang="en-US" sz="3200" dirty="0"/>
              <a:t> Python</a:t>
            </a:r>
            <a:br>
              <a:rPr lang="en-US" sz="3200" dirty="0"/>
            </a:br>
            <a:endParaRPr lang="en-US" sz="3200" dirty="0"/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b="1" dirty="0" smtClean="0"/>
              <a:t>Graphics </a:t>
            </a:r>
            <a:r>
              <a:rPr lang="en-US" sz="3200" b="1" dirty="0"/>
              <a:t>Library:</a:t>
            </a:r>
            <a:r>
              <a:rPr lang="en-US" sz="3200" dirty="0"/>
              <a:t> Pygame (for UI, visuals, sounds, and event handling</a:t>
            </a:r>
            <a:r>
              <a:rPr lang="en-US" sz="3200" dirty="0" smtClean="0"/>
              <a:t>)</a:t>
            </a: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b="1" dirty="0" smtClean="0"/>
              <a:t>Algorithm</a:t>
            </a:r>
            <a:r>
              <a:rPr lang="en-US" sz="3200" b="1" dirty="0"/>
              <a:t>:</a:t>
            </a:r>
            <a:r>
              <a:rPr lang="en-US" sz="3200" dirty="0"/>
              <a:t> Backtracking (used to solve Sudoku puzzles efficiently</a:t>
            </a:r>
            <a:r>
              <a:rPr lang="en-US" sz="3200" dirty="0" smtClean="0"/>
              <a:t>)</a:t>
            </a: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b="1" dirty="0" smtClean="0"/>
              <a:t>Sound </a:t>
            </a:r>
            <a:r>
              <a:rPr lang="en-US" sz="3200" b="1" dirty="0"/>
              <a:t>Management:</a:t>
            </a:r>
            <a:r>
              <a:rPr lang="en-US" sz="3200" dirty="0"/>
              <a:t> Pygame Mixer (for clicks, errors, and victory effects</a:t>
            </a:r>
            <a:r>
              <a:rPr lang="en-US" sz="3200" dirty="0" smtClean="0"/>
              <a:t>)</a:t>
            </a: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dirty="0"/>
              <a:t/>
            </a:r>
            <a:br>
              <a:rPr lang="en-US" sz="3200" dirty="0"/>
            </a:br>
            <a:r>
              <a:rPr lang="en-US" sz="3200" b="1" dirty="0" smtClean="0"/>
              <a:t>Data </a:t>
            </a:r>
            <a:r>
              <a:rPr lang="en-US" sz="3200" b="1" dirty="0"/>
              <a:t>Structures:</a:t>
            </a:r>
            <a:r>
              <a:rPr lang="en-US" sz="3200" dirty="0"/>
              <a:t> 2D Lists (to represent Sudoku </a:t>
            </a:r>
            <a:r>
              <a:rPr lang="en-US" sz="3200" dirty="0" smtClean="0"/>
              <a:t>grids)</a:t>
            </a: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b="1" dirty="0" smtClean="0"/>
              <a:t>Development </a:t>
            </a:r>
            <a:r>
              <a:rPr lang="en-US" sz="3200" b="1" dirty="0"/>
              <a:t>Tools:</a:t>
            </a:r>
            <a:r>
              <a:rPr lang="en-US" sz="3200" dirty="0"/>
              <a:t> VS Code / PyCharm</a:t>
            </a:r>
            <a:endParaRPr lang="en-US" sz="3000" dirty="0">
              <a:solidFill>
                <a:prstClr val="black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704" y="1835051"/>
            <a:ext cx="3028570" cy="354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4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/>
              <a:t>Game Logic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E5B2B2-0684-4BD8-9A66-EEE670977A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2182367" y="1825836"/>
            <a:ext cx="468000" cy="4680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42DF4-4EE3-4660-9BDC-D1E1707D98BC}"/>
              </a:ext>
            </a:extLst>
          </p:cNvPr>
          <p:cNvSpPr txBox="1"/>
          <p:nvPr/>
        </p:nvSpPr>
        <p:spPr>
          <a:xfrm>
            <a:off x="2249679" y="185593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1C65-5310-42F3-BA62-63E7E01D96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1998" y="2443527"/>
            <a:ext cx="3627121" cy="2291676"/>
          </a:xfrm>
        </p:spPr>
        <p:txBody>
          <a:bodyPr>
            <a:noAutofit/>
          </a:bodyPr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2400" dirty="0"/>
              <a:t>The Sudoku grid is represented as a 2D array (9×9).</a:t>
            </a:r>
          </a:p>
          <a:p>
            <a:pPr marL="0" lv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8F9BDC-F173-4590-A94B-9747D47167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855273" y="1825836"/>
            <a:ext cx="468000" cy="4680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124239-D4DF-4D00-AF5F-B08E7F4284D0}"/>
              </a:ext>
            </a:extLst>
          </p:cNvPr>
          <p:cNvSpPr txBox="1"/>
          <p:nvPr/>
        </p:nvSpPr>
        <p:spPr>
          <a:xfrm>
            <a:off x="5928910" y="185593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B3829-6AFB-41B3-A1B4-EF5B1CE000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0094" y="2443527"/>
            <a:ext cx="3539905" cy="1260000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GB" sz="2400" dirty="0"/>
              <a:t>Each cell can be locked (default number) or editable (user input)</a:t>
            </a:r>
            <a:endParaRPr lang="en-US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7BAB53-DA38-4DD5-9A3E-8152A042F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520046" y="1825836"/>
            <a:ext cx="468000" cy="4680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4695A3-1853-4E49-84FD-FE5CBABEF961}"/>
              </a:ext>
            </a:extLst>
          </p:cNvPr>
          <p:cNvSpPr txBox="1"/>
          <p:nvPr/>
        </p:nvSpPr>
        <p:spPr>
          <a:xfrm>
            <a:off x="9587358" y="185593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1F8476-CA40-4F5D-BFDF-703563EA67E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85589" y="2443527"/>
            <a:ext cx="4392441" cy="2291676"/>
          </a:xfrm>
        </p:spPr>
        <p:txBody>
          <a:bodyPr>
            <a:noAutofit/>
          </a:bodyPr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2400" dirty="0"/>
              <a:t>Validation checks ensure each number follows Sudoku rules (</a:t>
            </a:r>
            <a:r>
              <a:rPr lang="en-GB" sz="2400" dirty="0" smtClean="0"/>
              <a:t>no repetition</a:t>
            </a:r>
            <a:r>
              <a:rPr lang="en-GB" sz="2400" dirty="0"/>
              <a:t>).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48" y="4146274"/>
            <a:ext cx="1716773" cy="172900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710" y="4146274"/>
            <a:ext cx="1725501" cy="162231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647" y="4146274"/>
            <a:ext cx="1721509" cy="173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061B-93AF-4A3E-9D95-D1F4A2B9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Interface Design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050939-D8BA-4932-A12D-76E1C8DB0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160558" y="1767748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9" name="TextBox 8" descr="decorative element">
            <a:extLst>
              <a:ext uri="{FF2B5EF4-FFF2-40B4-BE49-F238E27FC236}">
                <a16:creationId xmlns:a16="http://schemas.microsoft.com/office/drawing/2014/main" id="{203CBBBF-0B81-4DFD-BF97-EB2A57EFB9A8}"/>
              </a:ext>
            </a:extLst>
          </p:cNvPr>
          <p:cNvSpPr txBox="1"/>
          <p:nvPr/>
        </p:nvSpPr>
        <p:spPr>
          <a:xfrm>
            <a:off x="6212153" y="1767748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A05C8E-8DB2-4A35-8654-BC76A6BEFD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141400" y="2914572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1" name="TextBox 10" descr="decorative element">
            <a:extLst>
              <a:ext uri="{FF2B5EF4-FFF2-40B4-BE49-F238E27FC236}">
                <a16:creationId xmlns:a16="http://schemas.microsoft.com/office/drawing/2014/main" id="{4EF9D577-2886-4CDA-B921-E2B2C3ACB335}"/>
              </a:ext>
            </a:extLst>
          </p:cNvPr>
          <p:cNvSpPr txBox="1"/>
          <p:nvPr/>
        </p:nvSpPr>
        <p:spPr>
          <a:xfrm>
            <a:off x="6188143" y="2903562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479838-5C1C-498A-A57F-23C902B640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160558" y="4113547"/>
            <a:ext cx="424698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3" name="TextBox 12" descr="decorative element">
            <a:extLst>
              <a:ext uri="{FF2B5EF4-FFF2-40B4-BE49-F238E27FC236}">
                <a16:creationId xmlns:a16="http://schemas.microsoft.com/office/drawing/2014/main" id="{4F0FB908-D139-41C0-A768-4CC591531971}"/>
              </a:ext>
            </a:extLst>
          </p:cNvPr>
          <p:cNvSpPr txBox="1"/>
          <p:nvPr/>
        </p:nvSpPr>
        <p:spPr>
          <a:xfrm>
            <a:off x="6212153" y="4147492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6CE282-77A8-4C84-93B8-1246EED129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212153" y="5392233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5" name="TextBox 14" descr="decorative element">
            <a:extLst>
              <a:ext uri="{FF2B5EF4-FFF2-40B4-BE49-F238E27FC236}">
                <a16:creationId xmlns:a16="http://schemas.microsoft.com/office/drawing/2014/main" id="{C2B65381-12B7-4DB7-B5B0-5CF6293348B5}"/>
              </a:ext>
            </a:extLst>
          </p:cNvPr>
          <p:cNvSpPr txBox="1"/>
          <p:nvPr/>
        </p:nvSpPr>
        <p:spPr>
          <a:xfrm>
            <a:off x="6276025" y="5392233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74A029-8AD0-4A10-B977-541CE5DD06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440019" y="1632391"/>
            <a:ext cx="7751979" cy="4915366"/>
          </a:xfrm>
          <a:prstGeom prst="roundRect">
            <a:avLst>
              <a:gd name="adj" fmla="val 0"/>
            </a:avLst>
          </a:prstGeom>
          <a:noFill/>
          <a:ln w="381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57AAF-C78F-46C2-9727-8076925CD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153" y="2755141"/>
            <a:ext cx="6267589" cy="2605486"/>
          </a:xfrm>
        </p:spPr>
        <p:txBody>
          <a:bodyPr>
            <a:noAutofit/>
          </a:bodyPr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3200" dirty="0"/>
              <a:t>Simple, clean layout for easy interaction.</a:t>
            </a:r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3200" dirty="0"/>
              <a:t>Color coding: Black for default numbers, Blue for user </a:t>
            </a:r>
            <a:r>
              <a:rPr lang="en-GB" sz="3200" dirty="0" smtClean="0"/>
              <a:t>entries.</a:t>
            </a:r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3200" dirty="0" smtClean="0"/>
              <a:t>Buttons </a:t>
            </a:r>
            <a:r>
              <a:rPr lang="en-GB" sz="3200" dirty="0"/>
              <a:t>for </a:t>
            </a:r>
            <a:r>
              <a:rPr lang="en-GB" sz="3200" dirty="0" smtClean="0"/>
              <a:t>Check, </a:t>
            </a:r>
            <a:r>
              <a:rPr lang="en-GB" sz="3200" dirty="0" err="1" smtClean="0"/>
              <a:t>Solve,Undo</a:t>
            </a:r>
            <a:r>
              <a:rPr lang="en-GB" sz="3200" dirty="0" smtClean="0"/>
              <a:t>, Hint, Reset</a:t>
            </a:r>
            <a:r>
              <a:rPr lang="en-GB" sz="3200" dirty="0"/>
              <a:t> </a:t>
            </a:r>
            <a:r>
              <a:rPr lang="en-GB" sz="3200" dirty="0" smtClean="0"/>
              <a:t>and New.</a:t>
            </a:r>
            <a:endParaRPr lang="en-GB" sz="3200" dirty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3200" dirty="0"/>
              <a:t>Optimized </a:t>
            </a:r>
            <a:r>
              <a:rPr lang="en-GB" sz="3200" dirty="0" smtClean="0"/>
              <a:t>700×650 </a:t>
            </a:r>
            <a:r>
              <a:rPr lang="en-GB" sz="3200" dirty="0"/>
              <a:t>window </a:t>
            </a:r>
            <a:endParaRPr lang="en-GB" sz="3200" dirty="0" smtClean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3200" dirty="0" smtClean="0"/>
              <a:t>for </a:t>
            </a:r>
            <a:r>
              <a:rPr lang="en-GB" sz="3200" dirty="0"/>
              <a:t>compact viewing.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72FC0-087E-4C53-82C7-1D7555E6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56" y="1767748"/>
            <a:ext cx="3905217" cy="402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2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FF9D-FA38-4BF2-834F-D115A5276A63}"/>
              </a:ext>
            </a:extLst>
          </p:cNvPr>
          <p:cNvSpPr>
            <a:spLocks noGrp="1"/>
          </p:cNvSpPr>
          <p:nvPr>
            <p:ph type="title"/>
          </p:nvPr>
        </p:nvSpPr>
        <p:spPr bwMode="grayWhite"/>
        <p:txBody>
          <a:bodyPr/>
          <a:lstStyle/>
          <a:p>
            <a:r>
              <a:rPr lang="en-US" dirty="0"/>
              <a:t>Conflict Detection Feature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9F8A20-BC4A-4DA3-8C8F-EC5F435450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824" y="2825189"/>
            <a:ext cx="2337077" cy="2875896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2800" dirty="0">
                <a:solidFill>
                  <a:schemeClr val="tx1"/>
                </a:solidFill>
              </a:rPr>
              <a:t>Real-time validation of user entries</a:t>
            </a:r>
            <a:r>
              <a:rPr lang="en-GB" sz="2800" dirty="0" smtClean="0">
                <a:solidFill>
                  <a:schemeClr val="tx1"/>
                </a:solidFill>
              </a:rPr>
              <a:t>.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1E5BF8-B883-4420-9EA9-7E920E5D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3D9163-4861-465C-A2A4-AEAABF83136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82901" y="2897139"/>
            <a:ext cx="3354377" cy="2291676"/>
          </a:xfrm>
        </p:spPr>
        <p:txBody>
          <a:bodyPr>
            <a:noAutofit/>
          </a:bodyPr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2800" dirty="0">
                <a:solidFill>
                  <a:schemeClr val="tx1"/>
                </a:solidFill>
              </a:rPr>
              <a:t>If a number violates Sudoku rules, it highlights temporarily (red).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6285003" y="3010933"/>
            <a:ext cx="3550759" cy="2291676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sz="2800" dirty="0" smtClean="0">
                <a:solidFill>
                  <a:schemeClr val="tx1"/>
                </a:solidFill>
              </a:rPr>
              <a:t>A </a:t>
            </a:r>
            <a:r>
              <a:rPr lang="en-GB" sz="2800" dirty="0">
                <a:solidFill>
                  <a:schemeClr val="tx1"/>
                </a:solidFill>
              </a:rPr>
              <a:t>'Conflict Counter' tracks incorrect placements.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835AEFA-F289-46D0-BBE8-3BB779BF05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8549" y="2052357"/>
            <a:ext cx="683280" cy="68328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4D6B3-A5C3-45B7-BC39-889CA7ED1D34}"/>
              </a:ext>
            </a:extLst>
          </p:cNvPr>
          <p:cNvSpPr txBox="1"/>
          <p:nvPr/>
        </p:nvSpPr>
        <p:spPr>
          <a:xfrm>
            <a:off x="1192959" y="2054936"/>
            <a:ext cx="333375" cy="58477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0C167E-2525-4786-B676-2BB45CCD99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659196" y="2097258"/>
            <a:ext cx="684000" cy="684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56C5D-8989-43C6-972E-3DB66D9996AE}"/>
              </a:ext>
            </a:extLst>
          </p:cNvPr>
          <p:cNvSpPr txBox="1"/>
          <p:nvPr/>
        </p:nvSpPr>
        <p:spPr>
          <a:xfrm>
            <a:off x="3774327" y="2141067"/>
            <a:ext cx="333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00C167E-2525-4786-B676-2BB45CCD99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924564" y="2101249"/>
            <a:ext cx="684000" cy="684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cs typeface="Segoe UI Semibold" panose="020B0702040204020203" pitchFamily="34" charset="0"/>
              </a:rPr>
              <a:t>3</a:t>
            </a:r>
            <a:endParaRPr lang="en-US" sz="32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0C167E-2525-4786-B676-2BB45CCD99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992729" y="2141067"/>
            <a:ext cx="684000" cy="684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cs typeface="Segoe UI Semibold" panose="020B0702040204020203" pitchFamily="34" charset="0"/>
              </a:rPr>
              <a:t>4</a:t>
            </a:r>
            <a:endParaRPr lang="en-US" sz="3200" dirty="0"/>
          </a:p>
        </p:txBody>
      </p:sp>
      <p:sp>
        <p:nvSpPr>
          <p:cNvPr id="8" name="Rectangle 7"/>
          <p:cNvSpPr/>
          <p:nvPr/>
        </p:nvSpPr>
        <p:spPr>
          <a:xfrm>
            <a:off x="9485907" y="2942046"/>
            <a:ext cx="27060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lang="en-GB" sz="2800" dirty="0"/>
              <a:t>Encourages learning through self-correction rather than penalties.</a:t>
            </a:r>
          </a:p>
        </p:txBody>
      </p:sp>
    </p:spTree>
    <p:extLst>
      <p:ext uri="{BB962C8B-B14F-4D97-AF65-F5344CB8AC3E}">
        <p14:creationId xmlns:p14="http://schemas.microsoft.com/office/powerpoint/2010/main" val="202632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Gameplay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8800" y="1468316"/>
            <a:ext cx="4831664" cy="4185530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dirty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dirty="0"/>
              <a:t> </a:t>
            </a:r>
            <a:endParaRPr lang="en-GB" dirty="0" smtClean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dirty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dirty="0" smtClean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dirty="0" smtClean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dirty="0" smtClean="0"/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19A5BD-5ED6-420D-9845-C32F172567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435032" y="1568349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1</a:t>
            </a:r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19A5BD-5ED6-420D-9845-C32F172567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456774" y="2408861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2</a:t>
            </a:r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19A5BD-5ED6-420D-9845-C32F172567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468703" y="3197321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3</a:t>
            </a:r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819A5BD-5ED6-420D-9845-C32F172567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456774" y="3994603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4</a:t>
            </a:r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819A5BD-5ED6-420D-9845-C32F172567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468703" y="4791885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5</a:t>
            </a:r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266" y="431747"/>
            <a:ext cx="1952625" cy="627697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2819A5BD-5ED6-420D-9845-C32F172567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468703" y="5589167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6703" y="5653846"/>
            <a:ext cx="4907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lang="en-GB" dirty="0"/>
              <a:t>Check Button: Validates the current board state.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907" y="4093271"/>
            <a:ext cx="3718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lang="en-GB" dirty="0"/>
              <a:t>Undo Button: Reverts the last move.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907" y="3246655"/>
            <a:ext cx="3992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lang="en-GB" dirty="0"/>
              <a:t>Hint Button: Reveals a correct number.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907" y="2464283"/>
            <a:ext cx="4354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lang="en-GB" dirty="0"/>
              <a:t>Reset Option: Restarts the game instantly.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6703" y="1624394"/>
            <a:ext cx="50032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Starts a new random Sudoku puzzle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995907" y="4822140"/>
            <a:ext cx="50369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Solve: Automatically </a:t>
            </a:r>
            <a:r>
              <a:rPr lang="en-GB" dirty="0"/>
              <a:t>completes the puzzle using the solving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80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27345" y="2826973"/>
            <a:ext cx="2537792" cy="2291676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dirty="0"/>
              <a:t>Add timer and leaderboard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588781" y="2826973"/>
            <a:ext cx="3177934" cy="2291676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dirty="0"/>
              <a:t>Difficulty levels (Easy, Medium, Hard).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6495784" y="2761742"/>
            <a:ext cx="2485994" cy="2291676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US" dirty="0"/>
              <a:t>Save/Load progress feature.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205422" y="2761742"/>
            <a:ext cx="23041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lang="en-GB" dirty="0"/>
              <a:t>Mobile-responsive version using </a:t>
            </a:r>
            <a:r>
              <a:rPr lang="en-GB" dirty="0" smtClean="0"/>
              <a:t>Kivy or WebApp integration.</a:t>
            </a:r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35AEFA-F289-46D0-BBE8-3BB779BF05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472314" y="1870793"/>
            <a:ext cx="683280" cy="68328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1</a:t>
            </a:r>
            <a:endParaRPr lang="en-US" sz="24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835AEFA-F289-46D0-BBE8-3BB779BF05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320168" y="1799721"/>
            <a:ext cx="683280" cy="68328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835AEFA-F289-46D0-BBE8-3BB779BF05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168022" y="1813556"/>
            <a:ext cx="683280" cy="68328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3</a:t>
            </a:r>
            <a:endParaRPr lang="en-US" sz="24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35AEFA-F289-46D0-BBE8-3BB779BF05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015876" y="1870793"/>
            <a:ext cx="683280" cy="68328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4</a:t>
            </a:r>
            <a:endParaRPr lang="en-US" sz="24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781" y="4818684"/>
            <a:ext cx="2428001" cy="9146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784" y="3889118"/>
            <a:ext cx="2051492" cy="241458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43" y="4818325"/>
            <a:ext cx="2752725" cy="98648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422" y="4138898"/>
            <a:ext cx="2148568" cy="191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8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732" y="1"/>
            <a:ext cx="7720717" cy="6857999"/>
          </a:xfrm>
        </p:spPr>
      </p:pic>
    </p:spTree>
    <p:extLst>
      <p:ext uri="{BB962C8B-B14F-4D97-AF65-F5344CB8AC3E}">
        <p14:creationId xmlns:p14="http://schemas.microsoft.com/office/powerpoint/2010/main" val="94452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Conclusion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05745" y="1439187"/>
            <a:ext cx="3896139" cy="381662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58634" y="1876792"/>
            <a:ext cx="7443745" cy="4275365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dirty="0">
                <a:solidFill>
                  <a:schemeClr val="bg1"/>
                </a:solidFill>
              </a:rPr>
              <a:t>This project demonstrates the fusion of logic, design, and interactivity</a:t>
            </a:r>
            <a:r>
              <a:rPr lang="en-GB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dirty="0">
                <a:solidFill>
                  <a:schemeClr val="bg1"/>
                </a:solidFill>
              </a:rPr>
              <a:t>It enhances problem-solving skills through an engaging game experience</a:t>
            </a:r>
            <a:r>
              <a:rPr lang="en-GB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GB" dirty="0">
                <a:solidFill>
                  <a:schemeClr val="bg1"/>
                </a:solidFill>
              </a:rPr>
              <a:t>Developed with creativity and precision using Python &amp; Pygame.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35AEFA-F289-46D0-BBE8-3BB779BF05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8720" y="1781471"/>
            <a:ext cx="457081" cy="45708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1</a:t>
            </a:r>
            <a:endParaRPr lang="en-US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35AEFA-F289-46D0-BBE8-3BB779BF05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3422" y="2657441"/>
            <a:ext cx="481846" cy="48184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35AEFA-F289-46D0-BBE8-3BB779BF05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8190" y="3558176"/>
            <a:ext cx="477078" cy="4770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7991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396" y="412332"/>
            <a:ext cx="11553423" cy="5669280"/>
          </a:xfrm>
        </p:spPr>
        <p:txBody>
          <a:bodyPr>
            <a:noAutofit/>
          </a:bodyPr>
          <a:lstStyle/>
          <a:p>
            <a:pPr algn="just">
              <a:defRPr sz="1800">
                <a:solidFill>
                  <a:srgbClr val="323232"/>
                </a:solidFill>
              </a:defRPr>
            </a:pPr>
            <a:r>
              <a:rPr lang="en-US" sz="8000" b="1" i="0" dirty="0" smtClean="0">
                <a:solidFill>
                  <a:schemeClr val="tx1"/>
                </a:solidFill>
              </a:rPr>
              <a:t>   Thank you.</a:t>
            </a:r>
          </a:p>
          <a:p>
            <a:pPr algn="just">
              <a:defRPr sz="1800">
                <a:solidFill>
                  <a:srgbClr val="323232"/>
                </a:solidFill>
              </a:defRPr>
            </a:pPr>
            <a:r>
              <a:rPr lang="en-US" sz="8000" b="1" i="0" dirty="0" smtClean="0">
                <a:solidFill>
                  <a:schemeClr val="tx1"/>
                </a:solidFill>
              </a:rPr>
              <a:t>                  Any question?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9605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Custom 5">
      <a:majorFont>
        <a:latin typeface="Franklin Gothic Demi"/>
        <a:ea typeface=""/>
        <a:cs typeface=""/>
      </a:majorFont>
      <a:minorFont>
        <a:latin typeface="Franklin Gothic Medium"/>
        <a:ea typeface=""/>
        <a:cs typeface="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57150"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33527777_Safety procedures_RVA_v4" id="{94FF351A-4B06-4881-8D26-DC6D64B3CFD2}" vid="{E8C023A2-25EA-47E0-92DC-6E1BD008E9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5429E6-13D0-4D69-B2AD-EDA3074FAB41}">
  <we:reference id="wa104381063" version="1.0.0.0" store="en-US" storeType="OMEX"/>
  <we:alternateReferences>
    <we:reference id="wa104381063" version="1.0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06DFB17-E262-4301-8AA5-FCE7109ED8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6B2BE6-8FE9-4318-AA40-8F70CEED60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F39AE0-32C9-4F1D-B08C-0B8B9BAFC18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Safety procedures</Template>
  <TotalTime>0</TotalTime>
  <Words>422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Corbel</vt:lpstr>
      <vt:lpstr>Franklin Gothic Demi</vt:lpstr>
      <vt:lpstr>Franklin Gothic Medium</vt:lpstr>
      <vt:lpstr>Segoe UI</vt:lpstr>
      <vt:lpstr>Segoe UI Semibold</vt:lpstr>
      <vt:lpstr>Headlines</vt:lpstr>
      <vt:lpstr>PowerPoint Presentation</vt:lpstr>
      <vt:lpstr>Introduction</vt:lpstr>
      <vt:lpstr>PowerPoint Presentation</vt:lpstr>
      <vt:lpstr>PowerPoint Presentation</vt:lpstr>
      <vt:lpstr>Project Objective</vt:lpstr>
      <vt:lpstr>Tech Stack</vt:lpstr>
      <vt:lpstr>Game Logic</vt:lpstr>
      <vt:lpstr>Interface Design</vt:lpstr>
      <vt:lpstr>Conflict Detection Feature</vt:lpstr>
      <vt:lpstr>Gameplay Features</vt:lpstr>
      <vt:lpstr>Future Enhancements</vt:lpstr>
      <vt:lpstr>PowerPoint Presentation</vt:lpstr>
      <vt:lpstr>          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2025-10-29T16:37:41Z</dcterms:created>
  <dcterms:modified xsi:type="dcterms:W3CDTF">2025-11-03T13:26:55Z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